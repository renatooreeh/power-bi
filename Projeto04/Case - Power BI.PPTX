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68" r:id="rId3"/>
    <p:sldId id="263" r:id="rId4"/>
    <p:sldId id="270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206A"/>
    <a:srgbClr val="A16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0ACAB-54DA-41B4-BD6E-41E3C16E7C4C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CF558-2D09-418D-A3AE-2483F0F808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26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556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215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05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50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7561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85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69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264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82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10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7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4BB34-1BC6-4CDE-BB2C-1B1E44840343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141A7-FCC6-4AEC-8E32-326955A4CE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07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4" y="0"/>
            <a:ext cx="1216978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3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F79852B2-14C9-C04F-81F4-6B0C6DDC4F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14">
            <a:extLst>
              <a:ext uri="{FF2B5EF4-FFF2-40B4-BE49-F238E27FC236}">
                <a16:creationId xmlns:a16="http://schemas.microsoft.com/office/drawing/2014/main" id="{7BF9EF01-C0ED-CD4A-9EC6-38114E6E0BB6}"/>
              </a:ext>
            </a:extLst>
          </p:cNvPr>
          <p:cNvSpPr txBox="1"/>
          <p:nvPr/>
        </p:nvSpPr>
        <p:spPr>
          <a:xfrm>
            <a:off x="0" y="207668"/>
            <a:ext cx="5293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rgbClr val="7030A0"/>
                </a:solidFill>
              </a:rPr>
              <a:t>ETAPA – BUSINESS CASE</a:t>
            </a:r>
            <a:endParaRPr lang="pt-BR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1149361"/>
            <a:ext cx="6382417" cy="517064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2000" b="1"/>
            </a:lvl1pPr>
          </a:lstStyle>
          <a:p>
            <a:pPr>
              <a:lnSpc>
                <a:spcPct val="150000"/>
              </a:lnSpc>
            </a:pPr>
            <a:r>
              <a:rPr lang="pt-BR" b="0" dirty="0" smtClean="0"/>
              <a:t>Nos próximos slides serão apresentadas situações para desenvolvimento de soluções pautadas em sua visão de negócio, englobando seus valores e conhecimentos na área. </a:t>
            </a:r>
          </a:p>
          <a:p>
            <a:pPr>
              <a:lnSpc>
                <a:spcPct val="150000"/>
              </a:lnSpc>
            </a:pPr>
            <a:endParaRPr lang="pt-BR" b="0" dirty="0"/>
          </a:p>
          <a:p>
            <a:pPr>
              <a:lnSpc>
                <a:spcPct val="150000"/>
              </a:lnSpc>
            </a:pPr>
            <a:r>
              <a:rPr lang="pt-BR" b="0" dirty="0" smtClean="0"/>
              <a:t>Esta etapa tem como objetivo identificar sua desenvoltura frente aos desafios enfrentados no dia a dia </a:t>
            </a:r>
            <a:r>
              <a:rPr lang="pt-BR" b="0" dirty="0" err="1" smtClean="0"/>
              <a:t>Allis</a:t>
            </a:r>
            <a:r>
              <a:rPr lang="pt-BR" b="0" dirty="0" smtClean="0"/>
              <a:t>, identificando</a:t>
            </a:r>
            <a:r>
              <a:rPr lang="pt-BR" b="0" dirty="0"/>
              <a:t> </a:t>
            </a:r>
            <a:r>
              <a:rPr lang="pt-BR" b="0" dirty="0" smtClean="0"/>
              <a:t>se os valores e objetivos pessoais vão de encontro com o esperado para a posição.  </a:t>
            </a:r>
          </a:p>
          <a:p>
            <a:pPr>
              <a:lnSpc>
                <a:spcPct val="150000"/>
              </a:lnSpc>
            </a:pPr>
            <a:endParaRPr lang="pt-BR" b="0" dirty="0" smtClean="0"/>
          </a:p>
          <a:p>
            <a:pPr>
              <a:lnSpc>
                <a:spcPct val="150000"/>
              </a:lnSpc>
            </a:pPr>
            <a:r>
              <a:rPr lang="pt-BR" b="0" dirty="0" smtClean="0"/>
              <a:t>Use sua criatividade e inovação para criar um projeto dentro do prazo de 24hrs.</a:t>
            </a:r>
            <a:endParaRPr lang="pt-BR" b="0" dirty="0"/>
          </a:p>
        </p:txBody>
      </p:sp>
      <p:grpSp>
        <p:nvGrpSpPr>
          <p:cNvPr id="8" name="Agrupar 7"/>
          <p:cNvGrpSpPr/>
          <p:nvPr/>
        </p:nvGrpSpPr>
        <p:grpSpPr>
          <a:xfrm>
            <a:off x="6648715" y="2323184"/>
            <a:ext cx="5323460" cy="3625429"/>
            <a:chOff x="4140925" y="2368053"/>
            <a:chExt cx="6580409" cy="4350919"/>
          </a:xfrm>
        </p:grpSpPr>
        <p:sp>
          <p:nvSpPr>
            <p:cNvPr id="9" name="Triângulo isósceles 8"/>
            <p:cNvSpPr/>
            <p:nvPr/>
          </p:nvSpPr>
          <p:spPr>
            <a:xfrm rot="10562615">
              <a:off x="7240481" y="3524028"/>
              <a:ext cx="490133" cy="218641"/>
            </a:xfrm>
            <a:prstGeom prst="triangl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riângulo isósceles 9"/>
            <p:cNvSpPr/>
            <p:nvPr/>
          </p:nvSpPr>
          <p:spPr>
            <a:xfrm rot="4055224">
              <a:off x="5682538" y="5560136"/>
              <a:ext cx="490133" cy="218641"/>
            </a:xfrm>
            <a:prstGeom prst="triangl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Triângulo isósceles 10"/>
            <p:cNvSpPr/>
            <p:nvPr/>
          </p:nvSpPr>
          <p:spPr>
            <a:xfrm rot="7943287">
              <a:off x="5713816" y="4060978"/>
              <a:ext cx="490133" cy="218641"/>
            </a:xfrm>
            <a:prstGeom prst="triangl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/>
            <p:cNvSpPr/>
            <p:nvPr/>
          </p:nvSpPr>
          <p:spPr>
            <a:xfrm>
              <a:off x="6289026" y="4062010"/>
              <a:ext cx="2168435" cy="21031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 smtClean="0">
                  <a:solidFill>
                    <a:srgbClr val="7030A0"/>
                  </a:solidFill>
                </a:rPr>
                <a:t>Business Case</a:t>
              </a:r>
              <a:endParaRPr lang="pt-BR" sz="2000" b="1" dirty="0">
                <a:solidFill>
                  <a:srgbClr val="7030A0"/>
                </a:solidFill>
              </a:endParaRPr>
            </a:p>
          </p:txBody>
        </p:sp>
        <p:sp>
          <p:nvSpPr>
            <p:cNvPr id="13" name="Elipse 12"/>
            <p:cNvSpPr/>
            <p:nvPr/>
          </p:nvSpPr>
          <p:spPr>
            <a:xfrm>
              <a:off x="6539589" y="2368053"/>
              <a:ext cx="1783080" cy="122790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solidFill>
                    <a:srgbClr val="7030A0"/>
                  </a:solidFill>
                </a:rPr>
                <a:t>Sugestão</a:t>
              </a:r>
              <a:endParaRPr lang="pt-B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14" name="Elipse 13"/>
            <p:cNvSpPr/>
            <p:nvPr/>
          </p:nvSpPr>
          <p:spPr>
            <a:xfrm>
              <a:off x="4312920" y="3188218"/>
              <a:ext cx="1783080" cy="122790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solidFill>
                    <a:srgbClr val="7030A0"/>
                  </a:solidFill>
                </a:rPr>
                <a:t>Decisão</a:t>
              </a:r>
              <a:endParaRPr lang="pt-B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15" name="Elipse 14"/>
            <p:cNvSpPr/>
            <p:nvPr/>
          </p:nvSpPr>
          <p:spPr>
            <a:xfrm>
              <a:off x="4140925" y="5213830"/>
              <a:ext cx="1783080" cy="122790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solidFill>
                    <a:srgbClr val="7030A0"/>
                  </a:solidFill>
                </a:rPr>
                <a:t>Visão</a:t>
              </a:r>
              <a:endParaRPr lang="pt-B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16" name="Triângulo isósceles 15"/>
            <p:cNvSpPr/>
            <p:nvPr/>
          </p:nvSpPr>
          <p:spPr>
            <a:xfrm rot="13765333">
              <a:off x="8661145" y="4084563"/>
              <a:ext cx="490133" cy="218641"/>
            </a:xfrm>
            <a:prstGeom prst="triangl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/>
            <p:cNvSpPr/>
            <p:nvPr/>
          </p:nvSpPr>
          <p:spPr>
            <a:xfrm>
              <a:off x="8766258" y="3188218"/>
              <a:ext cx="1739940" cy="122790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solidFill>
                    <a:srgbClr val="7030A0"/>
                  </a:solidFill>
                </a:rPr>
                <a:t>Benefícios</a:t>
              </a:r>
              <a:endParaRPr lang="pt-B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18" name="Triângulo isósceles 17"/>
            <p:cNvSpPr/>
            <p:nvPr/>
          </p:nvSpPr>
          <p:spPr>
            <a:xfrm rot="17854782">
              <a:off x="8698665" y="5512750"/>
              <a:ext cx="490133" cy="218641"/>
            </a:xfrm>
            <a:prstGeom prst="triangl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ipse 18"/>
            <p:cNvSpPr/>
            <p:nvPr/>
          </p:nvSpPr>
          <p:spPr>
            <a:xfrm>
              <a:off x="8938254" y="5213830"/>
              <a:ext cx="1783080" cy="122790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4A20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7030A0"/>
                  </a:solidFill>
                </a:rPr>
                <a:t>Valores</a:t>
              </a:r>
            </a:p>
          </p:txBody>
        </p:sp>
        <p:pic>
          <p:nvPicPr>
            <p:cNvPr id="20" name="Picture 4" descr="Lâmpada Desenho Para Colorir - Ultra Coloring Page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189089">
              <a:off x="5797282" y="5838082"/>
              <a:ext cx="880890" cy="880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3353" y="3523738"/>
              <a:ext cx="849908" cy="519389"/>
            </a:xfrm>
            <a:prstGeom prst="rect">
              <a:avLst/>
            </a:prstGeom>
          </p:spPr>
        </p:pic>
        <p:pic>
          <p:nvPicPr>
            <p:cNvPr id="22" name="Picture 14" descr="Alvo Desenho Para Colorir - Ultra Coloring Pages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665544">
              <a:off x="8745172" y="4441289"/>
              <a:ext cx="799222" cy="7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6" descr="Resultado de imagem para simbolos de acerto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4463" y="4564804"/>
              <a:ext cx="514877" cy="514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0" descr="Resultado de imagem para desenho de lupa para imprimir | Detetives ...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629238">
              <a:off x="8205375" y="5981250"/>
              <a:ext cx="686609" cy="590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6" descr="Resultado de imagem para desenhos de engrenagens | Engrenagens ...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695" y="3523738"/>
              <a:ext cx="579171" cy="57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tângulo 25"/>
            <p:cNvSpPr/>
            <p:nvPr/>
          </p:nvSpPr>
          <p:spPr>
            <a:xfrm rot="3724125">
              <a:off x="6301733" y="5978475"/>
              <a:ext cx="559342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etângulo 26"/>
            <p:cNvSpPr/>
            <p:nvPr/>
          </p:nvSpPr>
          <p:spPr>
            <a:xfrm rot="3724125">
              <a:off x="8490352" y="4929237"/>
              <a:ext cx="559342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795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F79852B2-14C9-C04F-81F4-6B0C6DDC4F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14">
            <a:extLst>
              <a:ext uri="{FF2B5EF4-FFF2-40B4-BE49-F238E27FC236}">
                <a16:creationId xmlns:a16="http://schemas.microsoft.com/office/drawing/2014/main" id="{7BF9EF01-C0ED-CD4A-9EC6-38114E6E0BB6}"/>
              </a:ext>
            </a:extLst>
          </p:cNvPr>
          <p:cNvSpPr txBox="1"/>
          <p:nvPr/>
        </p:nvSpPr>
        <p:spPr>
          <a:xfrm>
            <a:off x="399727" y="285571"/>
            <a:ext cx="5293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rgbClr val="7030A0"/>
                </a:solidFill>
              </a:rPr>
              <a:t>SITUAÇÃO</a:t>
            </a:r>
            <a:endParaRPr lang="pt-BR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854820" y="2272946"/>
            <a:ext cx="101920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/>
              <a:t>Seu </a:t>
            </a:r>
            <a:r>
              <a:rPr lang="pt-BR" sz="2000" dirty="0"/>
              <a:t>cliente, LG, solicitou um estudo de </a:t>
            </a:r>
            <a:r>
              <a:rPr lang="pt-BR" sz="2000" dirty="0" smtClean="0"/>
              <a:t>preços.</a:t>
            </a:r>
          </a:p>
          <a:p>
            <a:endParaRPr lang="pt-BR" sz="2000" dirty="0" smtClean="0"/>
          </a:p>
          <a:p>
            <a:r>
              <a:rPr lang="pt-BR" sz="2000" dirty="0" smtClean="0"/>
              <a:t>Para </a:t>
            </a:r>
            <a:r>
              <a:rPr lang="pt-BR" sz="2000" dirty="0"/>
              <a:t>realizar esse estudo, você deverá utilizar a base “PREÇOS_LG.xlsx” que está na pasta BD.</a:t>
            </a:r>
          </a:p>
          <a:p>
            <a:endParaRPr lang="pt-BR" sz="2000" dirty="0"/>
          </a:p>
          <a:p>
            <a:r>
              <a:rPr lang="pt-BR" sz="2000" dirty="0" smtClean="0"/>
              <a:t>Para tal utilize </a:t>
            </a:r>
            <a:r>
              <a:rPr lang="pt-BR" sz="2000" dirty="0"/>
              <a:t>o arquivo “DASHBOARD </a:t>
            </a:r>
            <a:r>
              <a:rPr lang="pt-BR" sz="2000" dirty="0" err="1"/>
              <a:t>LG.pbix</a:t>
            </a:r>
            <a:r>
              <a:rPr lang="pt-BR" sz="2000" dirty="0"/>
              <a:t>” localizado na pasta PBI. </a:t>
            </a:r>
            <a:endParaRPr lang="pt-BR" sz="2000" dirty="0" smtClean="0"/>
          </a:p>
          <a:p>
            <a:endParaRPr lang="pt-BR" sz="2000" dirty="0"/>
          </a:p>
        </p:txBody>
      </p:sp>
      <p:sp>
        <p:nvSpPr>
          <p:cNvPr id="2" name="Retângulo 1"/>
          <p:cNvSpPr/>
          <p:nvPr/>
        </p:nvSpPr>
        <p:spPr>
          <a:xfrm>
            <a:off x="50623" y="6224139"/>
            <a:ext cx="10734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*Caso você não possua o Power BI instalado em sua máquina, você poderá baixa-lo no site da Microsoft</a:t>
            </a:r>
            <a:r>
              <a:rPr lang="pt-BR" sz="2400" dirty="0"/>
              <a:t>.</a:t>
            </a:r>
          </a:p>
        </p:txBody>
      </p:sp>
      <p:pic>
        <p:nvPicPr>
          <p:cNvPr id="1030" name="Picture 6" descr="LG logo and symbol, meaning, history,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085" y="285572"/>
            <a:ext cx="1917231" cy="1078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30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F79852B2-14C9-C04F-81F4-6B0C6DDC4F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14">
            <a:extLst>
              <a:ext uri="{FF2B5EF4-FFF2-40B4-BE49-F238E27FC236}">
                <a16:creationId xmlns:a16="http://schemas.microsoft.com/office/drawing/2014/main" id="{7BF9EF01-C0ED-CD4A-9EC6-38114E6E0BB6}"/>
              </a:ext>
            </a:extLst>
          </p:cNvPr>
          <p:cNvSpPr txBox="1"/>
          <p:nvPr/>
        </p:nvSpPr>
        <p:spPr>
          <a:xfrm>
            <a:off x="399727" y="285571"/>
            <a:ext cx="5293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rgbClr val="7030A0"/>
                </a:solidFill>
              </a:rPr>
              <a:t>PLANEJAMENTO &amp; EXECUÇÃO</a:t>
            </a:r>
            <a:endParaRPr lang="pt-BR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99726" y="1409311"/>
            <a:ext cx="112779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1. Dentre os temas mais importantes, você deverá criar uma DAX que traga a </a:t>
            </a:r>
            <a:r>
              <a:rPr lang="pt-BR" sz="2000" b="1" dirty="0"/>
              <a:t>MODA</a:t>
            </a:r>
            <a:r>
              <a:rPr lang="pt-BR" sz="2000" dirty="0"/>
              <a:t> de preço e outra que traga o </a:t>
            </a:r>
            <a:r>
              <a:rPr lang="pt-BR" sz="2000" b="1" dirty="0"/>
              <a:t>percentual da sua representatividade</a:t>
            </a:r>
            <a:r>
              <a:rPr lang="pt-BR" sz="2000" dirty="0"/>
              <a:t>. (Moda é o valor que mais se repete)</a:t>
            </a:r>
          </a:p>
          <a:p>
            <a:pPr algn="just"/>
            <a:endParaRPr lang="pt-BR" sz="1600" dirty="0" smtClean="0"/>
          </a:p>
          <a:p>
            <a:pPr algn="just"/>
            <a:r>
              <a:rPr lang="pt-BR" sz="1600" dirty="0" smtClean="0"/>
              <a:t>Ex</a:t>
            </a:r>
            <a:r>
              <a:rPr lang="pt-BR" sz="1600" dirty="0"/>
              <a:t>. Se a moda de preço for R$ 100,00 e esse valor se repetir 30 vezes em uma base de 100 amostras, a moda representa 30% da amostra.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2. Evoluções temporais são muito importantes para o seu cliente. Por isso, crie uma tabela calendário e a relacione à sua base de dados. Crie um gráfico de evolução semanal do </a:t>
            </a:r>
            <a:r>
              <a:rPr lang="pt-BR" sz="2000" dirty="0" smtClean="0"/>
              <a:t>preço, também.</a:t>
            </a:r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3. Uma das áreas solicitantes é o Marketing. E eles são extremamente visuais. Deixe seu relatório com o melhor design possível.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Essa </a:t>
            </a:r>
            <a:r>
              <a:rPr lang="pt-BR" sz="2000" dirty="0"/>
              <a:t>é a hora de mostrar seu potencial!! Aproveite para enriquecer as análises como achar melhor!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Boa sorte!!</a:t>
            </a:r>
          </a:p>
        </p:txBody>
      </p:sp>
    </p:spTree>
    <p:extLst>
      <p:ext uri="{BB962C8B-B14F-4D97-AF65-F5344CB8AC3E}">
        <p14:creationId xmlns:p14="http://schemas.microsoft.com/office/powerpoint/2010/main" val="99174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312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&amp; EXECUÇÃO: Você recebeu um Briefing do cliente sobre o lançamento de um novo produto e deverá elaborar o planejamento para start da ação que ocorrerá em dois dias.    Desenvolva brevemente um planejamento para execução do projeto, envolvendo as seguintes áreas: BKO, RH e Planejamento.</dc:title>
  <dc:creator>Fabiana Rodrigues Valentim de Sousa</dc:creator>
  <cp:lastModifiedBy>Cristina Dias Garbi</cp:lastModifiedBy>
  <cp:revision>14</cp:revision>
  <dcterms:created xsi:type="dcterms:W3CDTF">2020-08-18T20:12:00Z</dcterms:created>
  <dcterms:modified xsi:type="dcterms:W3CDTF">2020-08-25T16:16:57Z</dcterms:modified>
</cp:coreProperties>
</file>